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78" r:id="rId47"/>
    <p:sldId id="375" r:id="rId12"/>
    <p:sldId id="374" r:id="rId18"/>
    <p:sldId id="267" r:id="rId26"/>
    <p:sldId id="371" r:id="rId17"/>
    <p:sldId id="262" r:id="rId21"/>
    <p:sldId id="271" r:id="rId29"/>
    <p:sldId id="266" r:id="rId23"/>
    <p:sldId id="372" r:id="rId14"/>
    <p:sldId id="268" r:id="rId25"/>
    <p:sldId id="379" r:id="rId48"/>
    <p:sldId id="270" r:id="rId28"/>
    <p:sldId id="369" r:id="rId13"/>
    <p:sldId id="263" r:id="rId22"/>
    <p:sldId id="376" r:id="rId45"/>
    <p:sldId id="370" r:id="rId1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5.xml"/><Relationship Id="rId13" Type="http://schemas.openxmlformats.org/officeDocument/2006/relationships/slide" Target="slides/slide16.xml"/><Relationship Id="rId14" Type="http://schemas.openxmlformats.org/officeDocument/2006/relationships/slide" Target="slides/slide12.xml"/><Relationship Id="rId16" Type="http://schemas.openxmlformats.org/officeDocument/2006/relationships/slide" Target="slides/slide19.xml"/><Relationship Id="rId17" Type="http://schemas.openxmlformats.org/officeDocument/2006/relationships/slide" Target="slides/slide8.xml"/><Relationship Id="rId18" Type="http://schemas.openxmlformats.org/officeDocument/2006/relationships/slide" Target="slides/slide6.xml"/><Relationship Id="rId21" Type="http://schemas.openxmlformats.org/officeDocument/2006/relationships/slide" Target="slides/slide9.xml"/><Relationship Id="rId22" Type="http://schemas.openxmlformats.org/officeDocument/2006/relationships/slide" Target="slides/slide17.xml"/><Relationship Id="rId23" Type="http://schemas.openxmlformats.org/officeDocument/2006/relationships/slide" Target="slides/slide11.xml"/><Relationship Id="rId25" Type="http://schemas.openxmlformats.org/officeDocument/2006/relationships/slide" Target="slides/slide13.xml"/><Relationship Id="rId26" Type="http://schemas.openxmlformats.org/officeDocument/2006/relationships/slide" Target="slides/slide7.xml"/><Relationship Id="rId28" Type="http://schemas.openxmlformats.org/officeDocument/2006/relationships/slide" Target="slides/slide15.xml"/><Relationship Id="rId29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Relationship Id="rId46" Type="http://schemas.openxmlformats.org/officeDocument/2006/relationships/slide" Target="slides/slide20.xml"/><Relationship Id="rId47" Type="http://schemas.openxmlformats.org/officeDocument/2006/relationships/slide" Target="slides/slide4.xml"/><Relationship Id="rId48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тест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</c:v>
                </c:pt>
                <c:pt idx="1">
                  <c:v>65.2</c:v>
                </c:pt>
                <c:pt idx="2">
                  <c:v>99.9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ФСП Таланты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утечки нет</c:v>
                </c:pt>
                <c:pt idx="1">
                  <c:v>слито 25 %</c:v>
                </c:pt>
                <c:pt idx="2">
                  <c:v>слито 50 %</c:v>
                </c:pt>
                <c:pt idx="3">
                  <c:v>слито 100 %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9.7</c:v>
                </c:pt>
                <c:pt idx="1">
                  <c:v>9.6</c:v>
                </c:pt>
                <c:pt idx="2">
                  <c:v>9.3</c:v>
                </c:pt>
                <c:pt idx="3">
                  <c:v>10.4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00.0"/>
          <c:min val="0.0"/>
        </c:scaling>
        <c:delete val="0"/>
        <c:axPos val="l"/>
        <c:majorGridlines>
          <c:spPr>
            <a:ln w="6350" cap="flat" cmpd="sng" algn="ctr">
              <a:solidFill>
                <a:srgbClr val="8A83D1"/>
              </a:solidFill>
              <a:round/>
            </a:ln>
            <a:effectLst/>
          </c:spPr>
        </c:majorGridlines>
        <c:numFmt formatCode="0&quot;%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25.0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Precision@10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Sheet1!$A$2:$A$5</c:f>
              <c:strCache>
                <c:ptCount val="4"/>
                <c:pt idx="0">
                  <c:v>Случайный порядок</c:v>
                </c:pt>
                <c:pt idx="1">
                  <c:v>Поиск по резюме</c:v>
                </c:pt>
                <c:pt idx="2">
                  <c:v>Исходные веса</c:v>
                </c:pt>
                <c:pt idx="3">
                  <c:v>ФСП Таланты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0.43</c:v>
                </c:pt>
                <c:pt idx="2">
                  <c:v>0.9</c:v>
                </c:pt>
                <c:pt idx="3">
                  <c:v>0.94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.0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0.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[0:35–0:50] Я Стас, капитан и fullstack. Александр — DevOps: сервер, деплой, наблюдаемость. Егор — данные: генераторы, валидация, метрики.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[0:00–0:10] Здравствуйте! Мы команда KINGSMAN из Орла. Проект «ФСП Таланты» — платформа, где ИТ-компания сама пишет специалисту, чей уровень подтвердил тест.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[0:10–0:35] Коротко: компания пишет первой и сразу называет вилку. Категорию — специализацию и грейд — даёт адаптивный тест, а не резюме. Внутри категории выше те, у кого подтверждены навыки и есть достижения ФСП. Нас трое, познакомились в сообществе 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[0:50–1:10] Хотели собрать не концепт, а работающую платформу: рынок страдает от накрутки опыта и сотен откликов, на которых выгорают HR. Две главные сложности — тест, который бесполезно сливать, и проверка качества без реальных данных. Обе решили — дальше покажу как.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Техническая суть: ядро на Rust — адаптивный тест на IRT и 62 генератора заданий, подбор по 8 признакам с объяснением каждого балла, ФСП ID на Keycloak, видеозапись теста по согласию и своя языковая модель на нашем сервере. Для рынка: соискатель не ищет вакансии — компании приходят к нему с вилкой, компания получает подтверждённую категорию вместо стопки резюме. Внедрение: настоящий реестр и ФСП ID, пилот теста на участниках соревнований, подключение ATS компаний, калибровка подбора на реальных исходах найма.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[1:50–2:25] Сегодня найм в ИТ — отклики вслепую. Компания тонет в нерелевантных откликах, соискатель узнаёт зарплату на третьем созвоне, навыки в резюме — самоописание. Результаты соревнований ФСП нигде не учитываются.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[2:25–3:10] Пять шагов. Опрос, затем адаптивный тест — 8–20 уникальных заданий. По результату — категория, например «Бэкенд · Middle». Компания описывает потребность свободным текстом и видит объяснённый рейтинг. Приглашение — сразу с вилкой; принял — компания получает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[3:10–3:50] Задания — генераторы: у каждого свои числа, код и ответ; ответ вычисляется, а не хранится. Уровни откалиброваны по IRT, все соискатели на одной шкале. Следующее задание даёт максимум информации, тест останавливается, когда грейд ясен. Не сдал — сразу тест на грейд ниже. Слив базы не помогает — цифры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к вопросу «а если задания сольют». Из 44 тысяч слитых экземпляров с новыми совпадает 0,05 %. Фиксированный тест при половине слитых ответов проходят 99,9 % слабых, наш — 9–10 %, как и без утечки.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[3:50–4:20] Проверили на синтетике со скрытым истинным уровнем: 87 % точного совпадения грейда, ошибок больше чем на один грейд нет, при пересдаче другими заданиями κ = 0,74. В среднем 13,6 задания вместо длинного теста.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[4:20–5:00] Компания видит анонимную карточку: категория, сила теста, подтверждённые навыки, ФСП, ожидания — без имени и контактов. Балл 0–100 разложен по 8 признакам, у каждого объяснение: «все обязательные навыки», «нет Kubernetes». Фильтры уточняют подборку, закреплённые кандидаты остаются.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[5:00–5:30] Доля релевантных в топ-10 — 0,94 против 0,43 у поиска по ключевым словам резюме. Веса подобраны на 120 потребностях и проверены на 120 отложенных. Компания может прогнать свои пары «вакансия — кандидат» через тот же подбор.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[6:10–6:40] Первое сообщение — всегда с вилкой. Квота до 30 приглашений в неделю по уровню доверия к компании и одно активное приглашение на человека — спама нет. Контакты открываются только после «да», каждый доступ записан.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[6:40–7:10] Принятый кандидат уходит в ATS компании подписанным вебхуком, этапы найма возвращаются обратно. Антифейк: подтверждение домена, вилка против рынка, копии и пересказы чужих вакансий. Соискатели 14–17 лет — только с согласием законного представителя.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[5:30–6:10] ФСП ID уже на Keycloak: соискатель нажимает «Привязать», входит через OIDC, мы забираем разряды и места из реестра. Достижения поднимают внутри категории с учётом близости дисциплины к специализации, но не перевешивают тест. Членство в ФСП не учитываем — только результаты. Нет истории — нейтрально, без штрафа.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архитектура: модульный монолит на Rust, Next.js, PostgreSQL с pgvector, Valkey, эмбеддер на нашем сервере; весь стек поднимается docker compose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к вопросам о 152-ФЗ: Argon2id и короткие сессии, ФИО, контакты и видео зашифрованы, согласия версионированы и отзываются, 14–17 лет — через представителя, каждый доступ к контактам и каждое действие модератора в журнале.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план внедрения для компании: реальный реестр и вход через ФСП ID, пилот теста на участниках соревнований, калибровка весов на исходах найма из ATS, ЕГРЮЛ в антифейке, нативные коннекторы Huntflow, Поток, Talantix.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[7:10–8:40] Всё это работает: demo.arewehireyet.ru. Показываю: вход employer@demo.fsp → потребность → подборка с объяснением → приглашение с вилкой; затем кабинет соискателя — приглашение и привязка ФСП ID. Если сеть подведёт — говорим по скриншотам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[8:40–9:00] Спасибо! Стенд, репозиторий, документация и демо-доступы на слайде. Готовы к вопросам. Резервные слайды —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/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noFill/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noFill/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ФСП Таланты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7472" y="3401568"/>
            <a:ext cx="6400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КОМАНДА KINGSMAN · СПЕЦТРЕК ФСП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land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у каждого соискателя свои задания одинаковой сложности. Подборка с объяснением, контакты только после согласия соискателя.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Янковский Станислав Владимирович, fullstack-разработчик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3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Собрались в общем чате по языку Rust, вместе участвуем в хакатонах.</a:t>
            </a:r>
          </a:p>
          <a:p>
            <a:pPr rtl="0">
              <a:buNone/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</a:pPr>
            <a:r>
              <a:rPr lang="ru-RU" i="1" dirty="0">
                <a:solidFill>
                  <a:schemeClr val="tx1"/>
                </a:solidFill>
              </a:rPr>
              <a:t>Работаем в индустрии: аэротехнологии, open source, частные проекты.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Орёл, Орловская область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ФСП Таланты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Компания сама пишет соискателю и сразу называет вилку. Категорию даёт адаптивный тест, а не резюме; внутри категории выше те, у кого подтверждены навыки и есть достижения ФСП.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20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48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DevOps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@bro_etiket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+79006809507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Self-employed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48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Чиркунов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351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80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Data Engineer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@h9kbt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+79870941692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Opensource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80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Егор Иванов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288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team-yankovsky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5280" b="15280"/>
          <a:stretch>
            <a:fillRect/>
          </a:stretch>
        </p:blipFill>
        <p:spPr>
          <a:xfrm>
            <a:off x="2928204" y="1816054"/>
            <a:ext cx="1722566" cy="1552901"/>
          </a:xfrm>
        </p:spPr>
      </p:pic>
      <p:pic>
        <p:nvPicPr>
          <p:cNvPr id="3" name="Рисунок 2" descr="team-chirku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9067" b="9067"/>
          <a:stretch>
            <a:fillRect/>
          </a:stretch>
        </p:blipFill>
        <p:spPr>
          <a:xfrm>
            <a:off x="5233274" y="1826554"/>
            <a:ext cx="1722566" cy="1542401"/>
          </a:xfrm>
        </p:spPr>
      </p:pic>
      <p:pic>
        <p:nvPicPr>
          <p:cNvPr id="4" name="Рисунок 3" descr="team-ivanov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l="11702" r="11702"/>
          <a:stretch>
            <a:fillRect/>
          </a:stretch>
        </p:blipFill>
        <p:spPr>
          <a:xfrm>
            <a:off x="7538591" y="1809238"/>
            <a:ext cx="1722567" cy="1559717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516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fullstack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@memtrace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+79538198350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ООО «Новые Аэротехнологии»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516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Станислав Янковский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ПОДРОБНЕЕ ПРО КОМАНДУ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7318749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 в общем чате по языку Rust и стали вместе ходить на хакатоны. До ЛЦТ участвовали в Космохакатоне, Робозоне и MOEX AI.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Тест, который бесполезно сливать: 62 генератора заданий с вычисляемым ответом и выровненной сложностью. Проверка качества без реальных данных: симуляция со скрытым истинным уровнем. Анонимность соискателя до согласия, закреплённая в коде на уровне типов.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7318749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Хотели сделать не концепт, а работающую платформу для современного найма в ИТ. Рынок страдает от накрутки опыта в резюме и сотен откликов на вакансию, на разборе которых выгорают HR. Здесь уровень подтверждён тестом, а первый шаг делает компания.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Rust-ядро: адаптивный тест на IRT и 62 параметрических шаблона — у каждого соискателя свои экземпляры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по 8 признакам с объяснением каждого балла; 10 000 соискателей ранжируются за 0,3 мс</a:t>
            </a:r>
          </a:p>
          <a:p>
            <a:r>
              <a:rPr lang="ru-RU" sz="1400" dirty="0">
                <a:solidFill>
                  <a:schemeClr val="tx1"/>
                </a:solidFill>
              </a:rPr>
              <a:t>ФСП ID на Keycloak (OIDC + PKCE), достижения из реестра поднимают соискателя в категории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Прокторинг: видеозапись с согласия и журнал уходов со вкладки; спорные случаи разбирает модератор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Локальная языковая модель сравнивает описания по смыслу и ловит пересказы чужих вакансий; данные не уходят наружу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PostgreSQL, Next.js, OpenAPI 3.1, Docker Compose; 152-ФЗ — шифрование ПДн, согласия, журнал доступа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Соискатель получает предложения с вилкой без откликов, компания — подтверждённую категорию вместо стопки резюме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Участник ФСП превращает спортивные результаты в карьерное преимущество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Запуск в ФСП: настоящий реестр и ФСП ID, пилот теста на участниках соревнований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Компании подключаются из своих ATS: Huntflow, Поток, Talantix — без ручного переноса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 и задания калибруются на реальных исходах найма; антифейк — проверка ИНН и ОГРН по ЕГРЮЛ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Компания тонет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Сотни нерелевантных откликов разбирают дорогие инженеры. Резюме показывает ключевые слова, а не навыки.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Соискатель не знает условий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Отклик уходит в пустоту, обратной связи нет, а зарплату узнаёшь только на третьем созвоне.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lang="ru-RU" sz="1800">
                <a:solidFill>
                  <a:srgbClr val="F92571"/>
                </a:solidFill>
              </a:rPr>
              <a:t>Навыки не подтверждены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Стек и грейд в резюме — самоописание. Результаты соревнований ФСП нигде не учитываются.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lang="ru-RU">
                <a:solidFill>
                  <a:schemeClr val="accent5"/>
                </a:solidFill>
              </a:rPr>
              <a:t>Сегодня найм в ИТ — это отклики вслепую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Опрос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Направление, специализация, стек и заявленный грейд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Категория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«Бэкенд · Middle» присваивается только по тесту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Вилка сразу; принял — компания получает контакты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Адаптивный тест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8–20 уникальных заданий с лимитом времени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310F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Компания описывает потребность и видит объяснённый рейтинг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КАК ЭТО РАБОТАЕТ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503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Шаблоны вместо заданий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62 генератора: у каждого соискателя свои числа, код и ответ. Ответ вычисляется, а не хранится.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Калибровка IRT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У каждого уровня шаблона — сложность и дискриминативность. Все соискатели на одной шкале 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Адаптивность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Следующее задание даёт максимум информации о соискателе. Тест останавливается, когда грейд ясен.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lang="ru-RU">
                <a:solidFill>
                  <a:srgbClr val="F92571"/>
                </a:solidFill>
              </a:rPr>
              <a:t>Честные правила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Не сдал — сразу тест на грейд ниже. Уверенно сдал — дотест выше. Смена грейда раз в 90 дней.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МЕХАНИКА ТЕСТИРОВАНИЯ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9125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87 %</a:t>
            </a:r>
            <a:r>
              <a:rPr lang="ru-RU">
                <a:solidFill>
                  <a:schemeClr val="tx1"/>
                </a:solidFill>
              </a:rPr>
              <a:t> — итоговый грейд совпадает с истинным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100 %</a:t>
            </a:r>
            <a:r>
              <a:rPr lang="ru-RU">
                <a:solidFill>
                  <a:schemeClr val="tx1"/>
                </a:solidFill>
              </a:rPr>
              <a:t> — ошибка не больше одного грейда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κ = 0,74</a:t>
            </a:r>
            <a:r>
              <a:rPr lang="ru-RU">
                <a:solidFill>
                  <a:schemeClr val="tx1"/>
                </a:solidFill>
              </a:rPr>
              <a:t> — тот же грейд при пересдаче с другими заданиями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86 %</a:t>
            </a:r>
            <a:r>
              <a:rPr lang="ru-RU">
                <a:solidFill>
                  <a:schemeClr val="tx1"/>
                </a:solidFill>
              </a:rPr>
              <a:t> — точность при ошибке калибровки заданий до ±20 %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lang="ru-RU" b="1">
                <a:solidFill>
                  <a:srgbClr val="FF0053"/>
                </a:solidFill>
              </a:rPr>
              <a:t>13,6</a:t>
            </a:r>
            <a:r>
              <a:rPr lang="ru-RU">
                <a:solidFill>
                  <a:schemeClr val="tx1"/>
                </a:solidFill>
              </a:rPr>
              <a:t> задания в среднем вместо длинного фиксированного теста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ТОЧНОСТЬ ТЕСТА</a:t>
            </a:r>
            <a:endParaRPr lang="ru-RU" dirty="0"/>
          </a:p>
        </p:txBody>
      </p:sp>
      <p:pic>
        <p:nvPicPr>
          <p:cNvPr id="25" name="Picture 24" descr="test-ru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2" y="1503583"/>
            <a:ext cx="4934829" cy="456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832352E2-54BA-705C-C9BB-328B5BDEF2D2}"/>
              </a:ext>
            </a:extLst>
          </p:cNvPr>
          <p:cNvSpPr/>
          <p:nvPr/>
        </p:nvSpPr>
        <p:spPr>
          <a:xfrm>
            <a:off x="346075" y="324562"/>
            <a:ext cx="469087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shortlist-mobi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073" b="1073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" name="Текст 3">
            <a:extLst>
              <a:ext uri="{FF2B5EF4-FFF2-40B4-BE49-F238E27FC236}">
                <a16:creationId xmlns:a16="http://schemas.microsoft.com/office/drawing/2014/main" id="{ED043264-47A7-41A8-BD39-44764904AB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Анонимная карточка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5760666-5FA0-4D8C-AB12-AC2144A46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Категория, сила теста, подтверждённые навыки, ФСП и ожидания — без имени и контактов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A4149DD-AEA5-4B34-B1C7-7F98E296C6A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Балл 0–100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0E3C014-67F9-4CD2-9DAD-DD9229F6DB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Разложен по 8 признакам: стек, грейд, тест, ФСП, зарплата, актуальность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C941A72-EFAF-44F7-BEB7-6AB833109CE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Причины и пробелы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455AC49-3B10-4E7B-8E60-B114266B10E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«Все обязательные навыки», «Нет Kubernetes», «Вместо PostgreSQL — MySQL»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BBBC9E7C-9583-4A41-9E75-CEE9530DD86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Уточнение без потери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BA3A59F4-773A-4619-B45C-1B0EA46D9BB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Фильтры пересчитывают подборку, закреплённые кандидаты остаются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3FE28FC6-A9E9-4F9B-8446-38D1CD450EF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28</a:t>
            </a:fld>
            <a:endParaRPr lang="ru-RU" dirty="0">
              <a:solidFill>
                <a:schemeClr val="accent5"/>
              </a:solidFill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A4EDC46-4F2C-4275-9CDC-2BD481E430A8}"/>
              </a:ext>
            </a:extLst>
          </p:cNvPr>
          <p:cNvGrpSpPr/>
          <p:nvPr/>
        </p:nvGrpSpPr>
        <p:grpSpPr>
          <a:xfrm>
            <a:off x="4951937" y="1208819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CADC314F-9F19-4FEA-97AD-07F26F51B620}"/>
                </a:ext>
              </a:extLst>
            </p:cNvPr>
            <p:cNvSpPr/>
            <p:nvPr/>
          </p:nvSpPr>
          <p:spPr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376E7FEE-0EB1-4746-9DDD-1684A7001A8E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A8C3F5C7-7636-41A4-BA80-3491804B8786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811CD315-417D-43F3-86F1-90773170876F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2BB8CDF7-2F1E-4B42-A7CD-D11EC8EDA406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68B6A556-7D40-478D-84FB-4EF0FC7DA59F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12827976-DC27-4EAF-8E52-EBEFEC7E0761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6530F195-F566-483B-94CE-768CC428E39B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18CA254A-9E3B-4352-82B2-BA84B9F413EC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4273616-0536-4E9E-A4BE-5D7114D4C4E6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81AF835D-BC32-4CF6-9D53-BC9BE3935788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668C5EB7-3AC0-4913-B7E5-76B46FFF714C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5">
              <a:extLst>
                <a:ext uri="{FF2B5EF4-FFF2-40B4-BE49-F238E27FC236}">
                  <a16:creationId xmlns:a16="http://schemas.microsoft.com/office/drawing/2014/main" id="{18FAB6AC-0AD1-4123-96B1-6FDD727A66D6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E0079DE2-1327-4F2F-A9D1-235DB5B2BB66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27">
              <a:extLst>
                <a:ext uri="{FF2B5EF4-FFF2-40B4-BE49-F238E27FC236}">
                  <a16:creationId xmlns:a16="http://schemas.microsoft.com/office/drawing/2014/main" id="{8563A0D3-DD5F-48FE-8A05-4C2D704CE07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28">
              <a:extLst>
                <a:ext uri="{FF2B5EF4-FFF2-40B4-BE49-F238E27FC236}">
                  <a16:creationId xmlns:a16="http://schemas.microsoft.com/office/drawing/2014/main" id="{8452619C-3E15-4DC5-AB4B-6C88B9322F6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824479CF-8277-41BF-A7D4-9E38E5D3A492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0B62DAC2-F1F4-4ECF-851D-BEC23148FE5D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1">
              <a:extLst>
                <a:ext uri="{FF2B5EF4-FFF2-40B4-BE49-F238E27FC236}">
                  <a16:creationId xmlns:a16="http://schemas.microsoft.com/office/drawing/2014/main" id="{45311E48-AC2A-4A80-A65A-D356CC01C1AC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104AE29B-276D-4F69-9E54-6CBD0BE75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>
              <a:extLst>
                <a:ext uri="{FF2B5EF4-FFF2-40B4-BE49-F238E27FC236}">
                  <a16:creationId xmlns:a16="http://schemas.microsoft.com/office/drawing/2014/main" id="{4FAE68B0-E6D3-4A99-8C27-FF0701E8FAD5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4">
              <a:extLst>
                <a:ext uri="{FF2B5EF4-FFF2-40B4-BE49-F238E27FC236}">
                  <a16:creationId xmlns:a16="http://schemas.microsoft.com/office/drawing/2014/main" id="{81A0CB6C-0D74-4877-B97D-73B7D6B320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5">
              <a:extLst>
                <a:ext uri="{FF2B5EF4-FFF2-40B4-BE49-F238E27FC236}">
                  <a16:creationId xmlns:a16="http://schemas.microsoft.com/office/drawing/2014/main" id="{7237E626-D311-4B83-8DBA-12DC3F813C32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" name="Полилиния: фигура 36">
              <a:extLst>
                <a:ext uri="{FF2B5EF4-FFF2-40B4-BE49-F238E27FC236}">
                  <a16:creationId xmlns:a16="http://schemas.microsoft.com/office/drawing/2014/main" id="{F61B8E82-D4DC-41E9-B74B-4125D6F227F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9" name="Заголовок 13">
            <a:extLst>
              <a:ext uri="{FF2B5EF4-FFF2-40B4-BE49-F238E27FC236}">
                <a16:creationId xmlns:a16="http://schemas.microsoft.com/office/drawing/2014/main" id="{8E1F3D1B-B48D-3959-B6E3-253BFA6E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ПОДБОРКА С ОБЪЯСНЕНИЕМ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064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5661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0,94 Precision@10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доля релевантных в топ-10 против 0,43 у поиска по ключевым словам резюме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0,84 nDCG@10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сильнейшие кандидаты стоят наверху, а не просто попадают в топ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Веса подобраны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на 120 потребностях и проверены на 120 отложенных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>
                <a:solidFill>
                  <a:srgbClr val="310F53"/>
                </a:solidFill>
              </a:rPr>
              <a:t>Проверка на ваших данных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accent5"/>
                </a:solidFill>
              </a:rPr>
              <a:t>свой набор пар «вакансия — кандидат» через CLI или Swagger: P@k, nDCG, MAP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КАЧЕСТВО ПОДБОРА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ФСП ID и достижения</a:t>
            </a:r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45210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Соискатель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нажимает «Привязать ФСП ID»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20700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876732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ФСП ID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вход в Keycloak, OIDC + PKCE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52222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108254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API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проверяет id_token, получает fsp_id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83744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39776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402FFF"/>
                </a:solidFill>
              </a:rPr>
              <a:t>Реестр ФСП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1B1C21"/>
                </a:solidFill>
              </a:rPr>
              <a:t>разряды, места, уровни, даты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15266" y="2721576"/>
            <a:ext cx="256032" cy="0"/>
          </a:xfrm>
          <a:prstGeom prst="line">
            <a:avLst/>
          </a:prstGeom>
          <a:ln w="25400">
            <a:solidFill>
              <a:srgbClr val="402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71298" y="1852896"/>
            <a:ext cx="1975490" cy="1737360"/>
          </a:xfrm>
          <a:prstGeom prst="roundRect">
            <a:avLst>
              <a:gd name="adj" fmla="val 12000"/>
            </a:avLst>
          </a:prstGeom>
          <a:solidFill>
            <a:srgbClr val="402FFF"/>
          </a:solidFill>
          <a:ln w="15875">
            <a:solidFill>
              <a:srgbClr val="402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700" b="1">
                <a:solidFill>
                  <a:srgbClr val="FFFFFF"/>
                </a:solidFill>
              </a:rPr>
              <a:t>Подборка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FFFFF"/>
                </a:solidFill>
              </a:rPr>
              <a:t>ФСП-скор поднимает в категории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210" y="4001736"/>
            <a:ext cx="109015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B1C21"/>
                </a:solidFill>
              </a:rPr>
              <a:t>Что берём из реестра: дисциплина, разряд (до МС), уровень соревнования, место, команда, дата, протокол.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C21"/>
                </a:solidFill>
              </a:rPr>
              <a:t>Вклад достижения затухает за 2 года и насыщается: ФСП усиливает профиль, но не перевешивает тест и стек.</a:t>
            </a:r>
          </a:p>
          <a:p>
            <a:pPr algn="l">
              <a:spcBef>
                <a:spcPts val="600"/>
              </a:spcBef>
            </a:pPr>
            <a:r>
              <a:rPr sz="1400" b="1">
                <a:solidFill>
                  <a:srgbClr val="402FFF"/>
                </a:solidFill>
              </a:rPr>
              <a:t>Нет истории ФСП — нейтрально: «Нет данных ФСП», без штрафа.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7536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Вилка в первом сообщении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Зарплата «от–до» обязательна. Приглашение приходит письмом и в кабинет, условия видны до разговора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Квота против спама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30 приглашений в неделю по уровню доверия и одно активное на человека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Контакты после «да»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 принятия — анонимная карточка. Каждый доступ к контактам записан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КОНТАКТ ПО-НОВОМУ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3159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ATS компании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Подписанные вебхуки и API-ключи: принятый кандидат уходит в Huntflow, Поток или свою систему, этапы найма возвращаются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Антифейк и модерация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Домен, вилка против рынка, копии и пересказы чужих вакансий; квота 5–30 по доверию. Жалобы и спорные тесты разбирает модератор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b="1" sz="1800">
                <a:solidFill>
                  <a:schemeClr val="tx1"/>
                </a:solidFill>
              </a:rPr>
              <a:t>Соискатели 14–17 лет</a:t>
            </a:r>
            <a:endParaRPr lang="ru-RU">
              <a:solidFill>
                <a:schemeClr val="tx1"/>
              </a:solidFill>
            </a:endParaRPr>
          </a:p>
          <a:p>
            <a:pPr>
              <a:spcBef>
                <a:spcPts val="1000"/>
              </a:spcBef>
            </a:pPr>
            <a:r>
              <a:rPr lang="ru-RU" sz="1400">
                <a:solidFill>
                  <a:schemeClr val="tx1"/>
                </a:solidFill>
              </a:rPr>
              <a:t>Профиль виден компаниям только после согласия законного представителя по ссылке из письма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ИНТЕГРАЦИИ И ДОВЕРИЕ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5029200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demo.arewehireyet.ru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5029200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8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demo.arewehireyet.ru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Публичный сайт: отдельные страницы для соискателей, компаний и участников ФСП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>
                <a:solidFill>
                  <a:schemeClr val="tx1"/>
                </a:solidFill>
              </a:rPr>
              <a:t>Кабинет компании: категории, подборка с объяснением, приглашение с вилкой</a:t>
            </a:r>
            <a:endParaRPr lang="ru-RU">
              <a:solidFill>
                <a:schemeClr val="tx1"/>
              </a:solidFill>
            </a:endParaRPr>
          </a:p>
        </p:txBody>
      </p:sp>
      <p:pic>
        <p:nvPicPr>
          <p:cNvPr id="5" name="Рисунок 4" descr="landing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employer-nee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669" b="5669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/>
              <a:t>ДЕМО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14630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310F53"/>
                </a:solidFill>
              </a:rPr>
              <a:t>Спасибо!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743200"/>
            <a:ext cx="5303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83D1"/>
                </a:solidFill>
              </a:rPr>
              <a:t>Работающий стенд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demo.arewehireyet.ru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Репозиторий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github.com/K1NGSM4N3/fsp-hack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Запуск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docker compose -f deploy/compose.yml --profile full up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Документация</a:t>
            </a:r>
          </a:p>
          <a:p>
            <a:pPr algn="l"/>
            <a:r>
              <a:rPr sz="1600" b="0">
                <a:solidFill>
                  <a:srgbClr val="1B1C21"/>
                </a:solidFill>
              </a:rPr>
              <a:t>docs/solution.pdf · Swagger: /api/docs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8A83D1"/>
                </a:solidFill>
              </a:rPr>
              <a:t>Демо-доступ</a:t>
            </a:r>
          </a:p>
          <a:p>
            <a:pPr algn="l"/>
            <a:r>
              <a:rPr sz="1300" b="0">
                <a:solidFill>
                  <a:srgbClr val="1B1C21"/>
                </a:solidFill>
              </a:rPr>
              <a:t>employer@demo.fsp · candidate@demo.fsp · moderator@demo.fsp · пароль demo12345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9410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0,05 %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заданий совпадает с базой из 44 тыс. слитых экземпляров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9–10 %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слабых соискателей проходят наш тест при любой утечке — как и без неё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2800">
                <a:solidFill>
                  <a:srgbClr val="FF0053"/>
                </a:solidFill>
              </a:rPr>
              <a:t>99,9 %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400">
                <a:solidFill>
                  <a:srgbClr val="1B1C21"/>
                </a:solidFill>
              </a:rPr>
              <a:t>проходят фиксированный тест, если слита половина ответов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66743" cy="376138"/>
          </a:xfrm>
        </p:spPr>
        <p:txBody>
          <a:bodyPr/>
          <a:lstStyle/>
          <a:p>
            <a:r>
              <a:rPr lang="ru-RU"/>
              <a:t>УТЕЧКА НЕ ПОМОГАЕТ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lang="ru-RU" sz="3600">
                <a:solidFill>
                  <a:schemeClr val="bg1"/>
                </a:solidFill>
              </a:rPr>
              <a:t>Архитектура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70" y="1904617"/>
            <a:ext cx="11084459" cy="38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Безопасность и 152-ФЗ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Пароли и сессии. </a:t>
            </a:r>
            <a:r>
              <a:rPr lang="ru-RU">
                <a:solidFill>
                  <a:schemeClr val="tx1"/>
                </a:solidFill>
              </a:rPr>
              <a:t>Argon2id; короткий JWT и ротируемый refresh в httpOnly-cookie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Шифрование. </a:t>
            </a:r>
            <a:r>
              <a:rPr lang="ru-RU">
                <a:solidFill>
                  <a:schemeClr val="tx1"/>
                </a:solidFill>
              </a:rPr>
              <a:t>ФИО, контакты и видеозаписи теста — XChaCha20-Poly1305; переход на ГОСТ и СКЗИ без миграций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Согласия. </a:t>
            </a:r>
            <a:r>
              <a:rPr lang="ru-RU">
                <a:solidFill>
                  <a:schemeClr val="tx1"/>
                </a:solidFill>
              </a:rPr>
              <a:t>Версионированные, с отзывом; без согласия на публикацию профиля нет в поиске; политика /privacy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14–17 лет. </a:t>
            </a:r>
            <a:r>
              <a:rPr lang="ru-RU">
                <a:solidFill>
                  <a:schemeClr val="tx1"/>
                </a:solidFill>
              </a:rPr>
              <a:t>Согласие законного представителя по ссылке из письма; в 18 ограничения снимаются сами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Прозрачность. </a:t>
            </a:r>
            <a:r>
              <a:rPr lang="ru-RU">
                <a:solidFill>
                  <a:schemeClr val="tx1"/>
                </a:solidFill>
              </a:rPr>
              <a:t>Контакты закрыты на уровне типов; соискатель видит, кто их открывал; действия модераторов — в журнале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lang="ru-RU" sz="2000">
                <a:solidFill>
                  <a:schemeClr val="accent5"/>
                </a:solidFill>
              </a:rPr>
              <a:t>План внедрения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Реестр ФСП. </a:t>
            </a:r>
            <a:r>
              <a:rPr lang="ru-RU">
                <a:solidFill>
                  <a:schemeClr val="tx1"/>
                </a:solidFill>
              </a:rPr>
              <a:t>Подключение реального реестра; вход через ФСП ID вместо пароля — отдельная доработка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Пилот теста. </a:t>
            </a:r>
            <a:r>
              <a:rPr lang="ru-RU">
                <a:solidFill>
                  <a:schemeClr val="tx1"/>
                </a:solidFill>
              </a:rPr>
              <a:t>На участниках соревнований: сверка грейда с разрядом, повторная сдача через неделю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Калибровка на исходах. </a:t>
            </a:r>
            <a:r>
              <a:rPr lang="ru-RU">
                <a:solidFill>
                  <a:schemeClr val="tx1"/>
                </a:solidFill>
              </a:rPr>
              <a:t>Веса подбора и параметры заданий по реальным этапам найма из ATS компаний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Антифейк. </a:t>
            </a:r>
            <a:r>
              <a:rPr lang="ru-RU">
                <a:solidFill>
                  <a:schemeClr val="tx1"/>
                </a:solidFill>
              </a:rPr>
              <a:t>Проверка ИНН и ОГРН по ЕГРЮЛ, подтверждение домена через DNS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47120" cy="712587"/>
          </a:xfrm>
        </p:spPr>
        <p:txBody>
          <a:bodyPr/>
          <a:lstStyle/>
          <a:p>
            <a:r>
              <a:rPr lang="ru-RU" b="1">
                <a:solidFill>
                  <a:srgbClr val="402FFF"/>
                </a:solidFill>
              </a:rPr>
              <a:t>Нативные коннекторы ATS. </a:t>
            </a:r>
            <a:r>
              <a:rPr lang="ru-RU">
                <a:solidFill>
                  <a:schemeClr val="tx1"/>
                </a:solidFill>
              </a:rPr>
              <a:t>Huntflow, Поток, Talantix поверх готовых вебхуков и API-ключей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