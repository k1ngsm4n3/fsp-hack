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78" r:id="rId47"/>
    <p:sldId id="375" r:id="rId12"/>
    <p:sldId id="374" r:id="rId18"/>
    <p:sldId id="267" r:id="rId26"/>
    <p:sldId id="371" r:id="rId17"/>
    <p:sldId id="263" r:id="rId22"/>
    <p:sldId id="262" r:id="rId21"/>
    <p:sldId id="271" r:id="rId29"/>
    <p:sldId id="266" r:id="rId23"/>
    <p:sldId id="268" r:id="rId25"/>
    <p:sldId id="379" r:id="rId48"/>
    <p:sldId id="372" r:id="rId14"/>
    <p:sldId id="376" r:id="rId45"/>
    <p:sldId id="370" r:id="rId16"/>
    <p:sldId id="377" r:id="rId46"/>
    <p:sldId id="270" r:id="rId28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18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7.xml"/><Relationship Id="rId18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6.xml"/><Relationship Id="rId28" Type="http://schemas.openxmlformats.org/officeDocument/2006/relationships/slide" Target="slides/slide17.xml"/><Relationship Id="rId2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Relationship Id="rId46" Type="http://schemas.openxmlformats.org/officeDocument/2006/relationships/slide" Target="slides/slide16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</c:v>
                </c:pt>
                <c:pt idx="1">
                  <c:v>65.2</c:v>
                </c:pt>
                <c:pt idx="2">
                  <c:v>99.9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Таланты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9.7</c:v>
                </c:pt>
                <c:pt idx="1">
                  <c:v>9.6</c:v>
                </c:pt>
                <c:pt idx="2">
                  <c:v>9.3</c:v>
                </c:pt>
                <c:pt idx="3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Precision@10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Случайный порядок</c:v>
                </c:pt>
                <c:pt idx="1">
                  <c:v>Поиск по резюме</c:v>
                </c:pt>
                <c:pt idx="2">
                  <c:v>Исходные веса</c:v>
                </c:pt>
                <c:pt idx="3">
                  <c:v>ФСП Таланты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0.43</c:v>
                </c:pt>
                <c:pt idx="2">
                  <c:v>0.89</c:v>
                </c:pt>
                <c:pt idx="3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ФСП Таланты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34015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КОМАНДА KINGSMAN · СПЕЦТРЕК ФСП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у каждого соискателя свои задания одинаковой сложности. Подборка с объяснением, контакты только после согласия соискателя.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Янковский Станислав Владимирович, fullstack-разработчик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Собрались в общем чате по языку Rust, вместе участвуем в хакатонах.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Работаем в индустрии: аэротехнологии, open source, частные проекты.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Орёл, Орловская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ФСП Таланты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Компания сама пишет соискателю и сразу называет вилку. Категорию даёт адаптивный тест, а не резюме; внутри категории выше те, у кого подтверждены навыки и есть достижения ФСП.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DevOps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@bro_etiket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+79006809507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Self-employed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Чиркунов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@h9kbt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+79870941692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Opensource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Иванов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team-yankovsky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5280" b="15280"/>
          <a:stretch>
            <a:fillRect/>
          </a:stretch>
        </p:blipFill>
        <p:spPr>
          <a:xfrm>
            <a:off x="2928204" y="1816054"/>
            <a:ext cx="1722566" cy="1552901"/>
          </a:xfrm>
        </p:spPr>
      </p:pic>
      <p:pic>
        <p:nvPicPr>
          <p:cNvPr id="3" name="Рисунок 2" descr="team-chirku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9067" b="9067"/>
          <a:stretch>
            <a:fillRect/>
          </a:stretch>
        </p:blipFill>
        <p:spPr>
          <a:xfrm>
            <a:off x="5233274" y="1826554"/>
            <a:ext cx="1722566" cy="1542401"/>
          </a:xfrm>
        </p:spPr>
      </p:pic>
      <p:pic>
        <p:nvPicPr>
          <p:cNvPr id="4" name="Рисунок 3" descr="team-iva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11702" r="11702"/>
          <a:stretch>
            <a:fillRect/>
          </a:stretch>
        </p:blipFill>
        <p:spPr>
          <a:xfrm>
            <a:off x="7538591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fullstack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@memtrace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+79538198350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ООО «Новые Аэротехнологии»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Янковский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Rust-ядро: адаптивный тест на IRT и 62 параметрических шаблона — у каждого соискателя свои экземпляры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8 признакам с объяснением каждого балла; 10 000 соискателей ранжируются за 0,3 мс</a:t>
            </a:r>
          </a:p>
          <a:p>
            <a:r>
              <a:rPr lang="ru-RU" sz="1400" dirty="0">
                <a:solidFill>
                  <a:schemeClr val="tx1"/>
                </a:solidFill>
              </a:rPr>
              <a:t>ФСП ID на Keycloak (OIDC + PKCE), достижения из реестра поднимают соискателя в категории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Прокторинг: видеозапись с согласия и журнал уходов со вкладки; спорные случаи разбирает модератор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PostgreSQL, Next.js, OpenAPI 3.1, Docker Compose; 152-ФЗ — шифрование ПДн, согласия, журнал доступа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Соискатель не ищет вакансии: компании приходят к нему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Компания получает подтверждённую тестом категорию вместо стопки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 ФСП превращает спортивные результаты в карьерное преимущество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Квота приглашений и вилка в первом сообщении убирают спам с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Компания тонет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Сотни нерелевантных откликов разбирают дорогие инженеры. Резюме показывает ключевые слова, а не навыки.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Соискатель не знает условий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Отклик уходит в пустоту, обратной связи нет, а зарплату узнаёшь только на третьем созвоне.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Навыки не подтверждены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Стек и грейд в резюме — самоописание. Результаты соревнований ФСП нигде не учитываются.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Сегодня найм в ИТ — это отклики вслепую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Направление, специализация, стек и заявленный грейд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«Бэкенд · Middle» присваивается только по тесту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Вилка сразу; принял — компания получает контакты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8–20 уникальных заданий с лимитом времени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Компания описывает потребность и видит объяснённый рейтинг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Шаблоны вместо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62 генератора: у каждого соискателя свои числа, код и ответ. Ответ вычисляется, а не хранится.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Калибровка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У каждого уровня шаблона — сложность и дискриминативность. Все соискатели на одной шкале 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Адаптивность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Следующее задание даёт максимум информации о соискателе. Тест останавливается, когда грейд ясен.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Честные правила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Не сдал — сразу тест на грейд ниже. Уверенно сдал — дотест выше. Смена грейда раз в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МЕХАНИКА ТЕСТИРОВАНИЯ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9410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0,05 %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заданий совпадает с базой из 42 тыс. слитых экземпляров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9–10 %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слабых соискателей проходят наш тест при любой утечке — как и без неё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99,9 %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проходят фиксированный тест, если слита половина ответов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66743" cy="376138"/>
          </a:xfrm>
        </p:spPr>
        <p:txBody>
          <a:bodyPr/>
          <a:lstStyle/>
          <a:p>
            <a:r>
              <a:rPr lang="ru-RU"/>
              <a:t>УТЕЧКА НЕ ПОМОГАЕТ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87 %</a:t>
            </a:r>
            <a:r>
              <a:rPr lang="ru-RU">
                <a:solidFill>
                  <a:schemeClr val="tx1"/>
                </a:solidFill>
              </a:rPr>
              <a:t> — итоговый грейд совпадает с истинным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100 %</a:t>
            </a:r>
            <a:r>
              <a:rPr lang="ru-RU">
                <a:solidFill>
                  <a:schemeClr val="tx1"/>
                </a:solidFill>
              </a:rPr>
              <a:t> — ошибка не больше одного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κ = 0,74</a:t>
            </a:r>
            <a:r>
              <a:rPr lang="ru-RU">
                <a:solidFill>
                  <a:schemeClr val="tx1"/>
                </a:solidFill>
              </a:rPr>
              <a:t> — тот же грейд при пересдаче с другими заданиями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86 %</a:t>
            </a:r>
            <a:r>
              <a:rPr lang="ru-RU">
                <a:solidFill>
                  <a:schemeClr val="tx1"/>
                </a:solidFill>
              </a:rPr>
              <a:t> — точность при ошибке калибровки заданий до ±20 %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13,6</a:t>
            </a:r>
            <a:r>
              <a:rPr lang="ru-RU">
                <a:solidFill>
                  <a:schemeClr val="tx1"/>
                </a:solidFill>
              </a:rPr>
              <a:t> задания в среднем вместо длинного фиксированного теста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ТОЧНОСТЬ ТЕСТА</a:t>
            </a:r>
            <a:endParaRPr lang="ru-RU" dirty="0"/>
          </a:p>
        </p:txBody>
      </p:sp>
      <p:pic>
        <p:nvPicPr>
          <p:cNvPr id="25" name="Picture 24" descr="test-ru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2" y="1503583"/>
            <a:ext cx="4934829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469087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hortlist-mobi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Анонимная карточка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Категория, сила теста, подтверждённые навыки, ФСП и ожидания — без имени и контактов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Балл 0–100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Разложен по 8 признакам: стек, грейд, тест, ФСП, зарплата, актуальность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Причины и пробелы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«Все обязательные навыки», «Нет Kubernetes», «Вместо PostgreSQL — MySQL»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Уточнение без потери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Фильтры пересчитывают подборку, закреплённые кандидаты остаются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ПОДБОРКА С ОБЪЯСНЕНИЕМ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0,94 Precision@10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доля релевантных в топ-10 против 0,43 у поиска по ключевым словам резюме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0,84 nDCG@10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сильнейшие кандидаты стоят наверху, а не просто попадают в топ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Веса подобраны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на 120 потребностях и проверены на 120 отложенных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Проверка на ваших данных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свой набор пар «вакансия — кандидат» через CLI или Swagger: P@k, nDCG, MAP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КАЧЕСТВО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Вилка в первом сообщении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Зарплата «от–до» обязательна. Приглашение приходит письмом и в кабинет, условия видны до разговора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Квота против спама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30 приглашений в неделю по уровню доверия и одно активное на человека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Контакты после «да»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принятия — анонимная карточка. Каждый доступ к контактам записан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КОНТАКТ ПО-НОВОМУ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ФСП ID и достижения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5210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Соискатель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нажимает «Привязать ФСП ID»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20700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76732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ФСП ID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вход в Keycloak, OIDC + PKCE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52222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08254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API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проверяет id_token, получает fsp_id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83744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39776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Реестр ФСП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разряды, места, уровни, даты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15266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1298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Подборка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ФСП-скор поднимает в 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210" y="4001736"/>
            <a:ext cx="109015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B1C21"/>
                </a:solidFill>
              </a:rPr>
              <a:t>Что берём из реестра: дисциплина, разряд (до МС), уровень соревнования, место, команда, дата, протокол.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C21"/>
                </a:solidFill>
              </a:rPr>
              <a:t>Вклад достижения затухает за 2 года и насыщается: ФСП усиливает профиль, но не перевешивает тест и стек.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402FFF"/>
                </a:solidFill>
              </a:rPr>
              <a:t>Нет истории ФСП — нейтрально: «Нет данных ФСП», без штрафа.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70" y="1904617"/>
            <a:ext cx="11084459" cy="38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Безопасность и 152-ФЗ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Пароли и сессии. </a:t>
            </a:r>
            <a:r>
              <a:rPr lang="ru-RU">
                <a:solidFill>
                  <a:schemeClr val="tx1"/>
                </a:solidFill>
              </a:rPr>
              <a:t>Argon2id; короткий JWT и ротируемый refresh в httpOnly-cookie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Шифрование. </a:t>
            </a:r>
            <a:r>
              <a:rPr lang="ru-RU">
                <a:solidFill>
                  <a:schemeClr val="tx1"/>
                </a:solidFill>
              </a:rPr>
              <a:t>ФИО, контакты и видеозаписи теста — XChaCha20-Poly1305; переход на ГОСТ и СКЗИ без миграций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Согласия. </a:t>
            </a:r>
            <a:r>
              <a:rPr lang="ru-RU">
                <a:solidFill>
                  <a:schemeClr val="tx1"/>
                </a:solidFill>
              </a:rPr>
              <a:t>Версионированные, с отзывом; без согласия на публикацию профиля нет в поиске; политика /privacy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14–17 лет. </a:t>
            </a:r>
            <a:r>
              <a:rPr lang="ru-RU">
                <a:solidFill>
                  <a:schemeClr val="tx1"/>
                </a:solidFill>
              </a:rPr>
              <a:t>Согласие законного представителя по ссылке из письма; в 18 ограничения снимаются сами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Прозрачность. </a:t>
            </a:r>
            <a:r>
              <a:rPr lang="ru-RU">
                <a:solidFill>
                  <a:schemeClr val="tx1"/>
                </a:solidFill>
              </a:rPr>
              <a:t>Контакты закрыты на уровне типов; соискатель видит, кто их открывал; действия модераторов — в журнале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Планы развития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Реестр ФСП. </a:t>
            </a:r>
            <a:r>
              <a:rPr lang="ru-RU">
                <a:solidFill>
                  <a:schemeClr val="tx1"/>
                </a:solidFill>
              </a:rPr>
              <a:t>Подключение реального реестра и вход на платформу через ФСП 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Пилот теста. </a:t>
            </a:r>
            <a:r>
              <a:rPr lang="ru-RU">
                <a:solidFill>
                  <a:schemeClr val="tx1"/>
                </a:solidFill>
              </a:rPr>
              <a:t>На участниках соревнований: сверка грейда с разрядом, повторная сдача через неделю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Калибровка на исходах. </a:t>
            </a:r>
            <a:r>
              <a:rPr lang="ru-RU">
                <a:solidFill>
                  <a:schemeClr val="tx1"/>
                </a:solidFill>
              </a:rPr>
              <a:t>Веса подбора и параметры заданий по реальным этапам найма из ATS компаний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Антифейк. </a:t>
            </a:r>
            <a:r>
              <a:rPr lang="ru-RU">
                <a:solidFill>
                  <a:schemeClr val="tx1"/>
                </a:solidFill>
              </a:rPr>
              <a:t>Проверка ИНН и ОГРН по ЕГРЮЛ, подтверждение домена через DNS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Нативные коннекторы ATS. </a:t>
            </a:r>
            <a:r>
              <a:rPr lang="ru-RU">
                <a:solidFill>
                  <a:schemeClr val="tx1"/>
                </a:solidFill>
              </a:rPr>
              <a:t>Huntflow, Поток, Talantix поверх готовых вебхуков и API-ключей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Публичный сайт: отдельные страницы для соискателей, компаний и участников ФСП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Кабинет компании: категории, подборка с объяснением, приглашение с вилкой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landing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employer-nee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14630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310F53"/>
                </a:solidFill>
              </a:rPr>
              <a:t>Спасибо!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743200"/>
            <a:ext cx="5303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3D1"/>
                </a:solidFill>
              </a:rPr>
              <a:t>Репозиторий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github.com/K1NGSM4N3/fsp-hack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Запуск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docker compose -f deploy/compose.yml --profile full up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Документация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docs/solution.pdf · Swagger: /api/docs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Демо-доступ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employer@demo.fsp · candidate@demo.fsp · moderator@demo.fsp · пароль demo12345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ПОДРОБНЕЕ ПРО КОМАНДУ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7318749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 в общем чате по языку Rust и стали вместе ходить на хакатоны. До ЛЦТ участвовали в Космохакатоне, Робозоне и MOEX AI.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62 генератора заданий с вычисляемым ответом и выровненной сложностью. Проверка качества без реальных данных: симуляция со скрытым истинным уровнем. Анонимность соискателя до согласия, закреплённая в коде на уровне типов.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7318749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Хотели сделать не концепт, а работающую платформу для современного найма в ИТ. Рынок страдает от накрутки опыта в резюме и сотен откликов на вакансию, на разборе которых выгорают HR. Здесь уровень подтверждён тестом, а первый шаг делает компания.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ATS компании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Подписанные вебхуки и API-ключи: принятый кандидат уходит в Huntflow, Поток или свою систему, этапы найма возвращаются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Антифейк и модерация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Домен, вилка против рынка, копии вакансий; квота 5–30 по доверию. Жалобы и спорные тесты разбирает модератор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Соискатели 14–17 лет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Профиль виден компаниям только после согласия законного представителя по ссылке из письма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ИНТЕГРАЦИИ И ДОВЕРИЕ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